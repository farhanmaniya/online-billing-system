
<file path=[Content_Types].xml><?xml version="1.0" encoding="utf-8"?>
<Types xmlns="http://schemas.openxmlformats.org/package/2006/content-types">
  <Default Extension="fntdata" ContentType="application/x-fontdata"/>
  <Default Extension="jpg" ContentType="image/pn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66" r:id="rId2"/>
    <p:sldId id="257" r:id="rId3"/>
    <p:sldId id="267" r:id="rId4"/>
    <p:sldId id="268" r:id="rId5"/>
    <p:sldId id="260" r:id="rId6"/>
    <p:sldId id="261" r:id="rId7"/>
    <p:sldId id="270" r:id="rId8"/>
    <p:sldId id="272" r:id="rId9"/>
    <p:sldId id="271" r:id="rId10"/>
    <p:sldId id="263" r:id="rId11"/>
    <p:sldId id="264" r:id="rId12"/>
    <p:sldId id="265" r:id="rId13"/>
  </p:sldIdLst>
  <p:sldSz cx="14630400" cy="8229600"/>
  <p:notesSz cx="8229600" cy="14630400"/>
  <p:embeddedFontLst>
    <p:embeddedFont>
      <p:font typeface="DM Sans Semi Bold" panose="020B0604020202020204" charset="0"/>
      <p:regular r:id="rId15"/>
    </p:embeddedFont>
    <p:embeddedFont>
      <p:font typeface="Inter Medium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792" y="4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42BD62-8FEA-4C0D-9EC0-30871296D972}" type="doc">
      <dgm:prSet loTypeId="urn:microsoft.com/office/officeart/2005/8/layout/process2" loCatId="process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81E2B5A-0B6E-4F12-A394-DE92844259E9}">
      <dgm:prSet phldrT="[Text]" phldr="0"/>
      <dgm:spPr/>
      <dgm:t>
        <a:bodyPr/>
        <a:lstStyle/>
        <a:p>
          <a:r>
            <a:rPr lang="en-IN" dirty="0"/>
            <a:t>User Request</a:t>
          </a:r>
        </a:p>
      </dgm:t>
    </dgm:pt>
    <dgm:pt modelId="{D15CFC80-0567-4643-8079-CADC12E44D49}" type="parTrans" cxnId="{2E4B72E6-E862-4BF4-94C3-05E98CA965AA}">
      <dgm:prSet/>
      <dgm:spPr/>
      <dgm:t>
        <a:bodyPr/>
        <a:lstStyle/>
        <a:p>
          <a:endParaRPr lang="en-IN"/>
        </a:p>
      </dgm:t>
    </dgm:pt>
    <dgm:pt modelId="{77F84EE6-923D-42BA-8FD8-9C9630F4D4B8}" type="sibTrans" cxnId="{2E4B72E6-E862-4BF4-94C3-05E98CA965AA}">
      <dgm:prSet/>
      <dgm:spPr/>
      <dgm:t>
        <a:bodyPr/>
        <a:lstStyle/>
        <a:p>
          <a:endParaRPr lang="en-IN"/>
        </a:p>
      </dgm:t>
    </dgm:pt>
    <dgm:pt modelId="{0CC94210-F5C3-464E-B3FC-AA204BBE82FF}">
      <dgm:prSet phldrT="[Text]" phldr="0"/>
      <dgm:spPr/>
      <dgm:t>
        <a:bodyPr/>
        <a:lstStyle/>
        <a:p>
          <a:r>
            <a:rPr lang="en-IN" dirty="0"/>
            <a:t>Invoice Processing</a:t>
          </a:r>
        </a:p>
      </dgm:t>
    </dgm:pt>
    <dgm:pt modelId="{FE8DDD8A-3B13-4E3F-9D2D-DFBDAF7DD329}" type="parTrans" cxnId="{1F0558FB-9C0E-4C4C-A7E8-422F7FEA1C13}">
      <dgm:prSet/>
      <dgm:spPr/>
      <dgm:t>
        <a:bodyPr/>
        <a:lstStyle/>
        <a:p>
          <a:endParaRPr lang="en-IN"/>
        </a:p>
      </dgm:t>
    </dgm:pt>
    <dgm:pt modelId="{BE626870-6F23-49BD-B8CA-70BF99BB1A15}" type="sibTrans" cxnId="{1F0558FB-9C0E-4C4C-A7E8-422F7FEA1C13}">
      <dgm:prSet/>
      <dgm:spPr/>
      <dgm:t>
        <a:bodyPr/>
        <a:lstStyle/>
        <a:p>
          <a:endParaRPr lang="en-IN"/>
        </a:p>
      </dgm:t>
    </dgm:pt>
    <dgm:pt modelId="{26725504-F7B7-4E9B-9505-0C0C123C5594}">
      <dgm:prSet phldrT="[Text]" phldr="0"/>
      <dgm:spPr/>
      <dgm:t>
        <a:bodyPr/>
        <a:lstStyle/>
        <a:p>
          <a:r>
            <a:rPr lang="en-IN" dirty="0"/>
            <a:t>Event Emission</a:t>
          </a:r>
        </a:p>
      </dgm:t>
    </dgm:pt>
    <dgm:pt modelId="{B72ED184-119F-4CEE-A4C5-E8EF3A7B3700}" type="parTrans" cxnId="{8EE98DA1-5D77-4E0E-832D-D308F507EA1B}">
      <dgm:prSet/>
      <dgm:spPr/>
      <dgm:t>
        <a:bodyPr/>
        <a:lstStyle/>
        <a:p>
          <a:endParaRPr lang="en-IN"/>
        </a:p>
      </dgm:t>
    </dgm:pt>
    <dgm:pt modelId="{61EA05C4-6034-4B86-BD1E-C4CC494B079A}" type="sibTrans" cxnId="{8EE98DA1-5D77-4E0E-832D-D308F507EA1B}">
      <dgm:prSet/>
      <dgm:spPr/>
      <dgm:t>
        <a:bodyPr/>
        <a:lstStyle/>
        <a:p>
          <a:endParaRPr lang="en-IN"/>
        </a:p>
      </dgm:t>
    </dgm:pt>
    <dgm:pt modelId="{959B9C75-E0F1-4E5B-AD12-17A27683892A}">
      <dgm:prSet/>
      <dgm:spPr/>
      <dgm:t>
        <a:bodyPr/>
        <a:lstStyle/>
        <a:p>
          <a:r>
            <a:rPr lang="en-IN" dirty="0"/>
            <a:t>Notification/Email Handler</a:t>
          </a:r>
        </a:p>
      </dgm:t>
    </dgm:pt>
    <dgm:pt modelId="{58458A61-2C2D-475A-BF42-24B533ED91C0}" type="parTrans" cxnId="{5FEBEDA5-2FA7-40DF-A4BA-70CE9C18E708}">
      <dgm:prSet/>
      <dgm:spPr/>
      <dgm:t>
        <a:bodyPr/>
        <a:lstStyle/>
        <a:p>
          <a:endParaRPr lang="en-IN"/>
        </a:p>
      </dgm:t>
    </dgm:pt>
    <dgm:pt modelId="{2782EB88-5E3F-4AB9-B22D-5F8B09215C7E}" type="sibTrans" cxnId="{5FEBEDA5-2FA7-40DF-A4BA-70CE9C18E708}">
      <dgm:prSet/>
      <dgm:spPr/>
      <dgm:t>
        <a:bodyPr/>
        <a:lstStyle/>
        <a:p>
          <a:endParaRPr lang="en-IN"/>
        </a:p>
      </dgm:t>
    </dgm:pt>
    <dgm:pt modelId="{32AA4C13-AABA-4645-B70E-AFB24BA674EA}" type="pres">
      <dgm:prSet presAssocID="{B742BD62-8FEA-4C0D-9EC0-30871296D972}" presName="linearFlow" presStyleCnt="0">
        <dgm:presLayoutVars>
          <dgm:resizeHandles val="exact"/>
        </dgm:presLayoutVars>
      </dgm:prSet>
      <dgm:spPr/>
    </dgm:pt>
    <dgm:pt modelId="{0C4A3B55-5E4F-4D7C-A1A8-82D430465EE5}" type="pres">
      <dgm:prSet presAssocID="{F81E2B5A-0B6E-4F12-A394-DE92844259E9}" presName="node" presStyleLbl="node1" presStyleIdx="0" presStyleCnt="4">
        <dgm:presLayoutVars>
          <dgm:bulletEnabled val="1"/>
        </dgm:presLayoutVars>
      </dgm:prSet>
      <dgm:spPr/>
    </dgm:pt>
    <dgm:pt modelId="{F9EAE772-95FF-499D-B765-F52D6D45CD41}" type="pres">
      <dgm:prSet presAssocID="{77F84EE6-923D-42BA-8FD8-9C9630F4D4B8}" presName="sibTrans" presStyleLbl="sibTrans2D1" presStyleIdx="0" presStyleCnt="3"/>
      <dgm:spPr/>
    </dgm:pt>
    <dgm:pt modelId="{C0985299-0DF2-4560-8DC2-72BF22C723C1}" type="pres">
      <dgm:prSet presAssocID="{77F84EE6-923D-42BA-8FD8-9C9630F4D4B8}" presName="connectorText" presStyleLbl="sibTrans2D1" presStyleIdx="0" presStyleCnt="3"/>
      <dgm:spPr/>
    </dgm:pt>
    <dgm:pt modelId="{7ADF881E-6056-4925-85FF-743DE8D3F470}" type="pres">
      <dgm:prSet presAssocID="{0CC94210-F5C3-464E-B3FC-AA204BBE82FF}" presName="node" presStyleLbl="node1" presStyleIdx="1" presStyleCnt="4">
        <dgm:presLayoutVars>
          <dgm:bulletEnabled val="1"/>
        </dgm:presLayoutVars>
      </dgm:prSet>
      <dgm:spPr/>
    </dgm:pt>
    <dgm:pt modelId="{3E54AC16-6C7D-45D6-B64E-243C3489C240}" type="pres">
      <dgm:prSet presAssocID="{BE626870-6F23-49BD-B8CA-70BF99BB1A15}" presName="sibTrans" presStyleLbl="sibTrans2D1" presStyleIdx="1" presStyleCnt="3"/>
      <dgm:spPr/>
    </dgm:pt>
    <dgm:pt modelId="{F21ED978-1E4B-4D66-BC30-DAA28B6706CE}" type="pres">
      <dgm:prSet presAssocID="{BE626870-6F23-49BD-B8CA-70BF99BB1A15}" presName="connectorText" presStyleLbl="sibTrans2D1" presStyleIdx="1" presStyleCnt="3"/>
      <dgm:spPr/>
    </dgm:pt>
    <dgm:pt modelId="{01DCCEFE-7826-404B-8BC2-39310C3F0E84}" type="pres">
      <dgm:prSet presAssocID="{26725504-F7B7-4E9B-9505-0C0C123C5594}" presName="node" presStyleLbl="node1" presStyleIdx="2" presStyleCnt="4">
        <dgm:presLayoutVars>
          <dgm:bulletEnabled val="1"/>
        </dgm:presLayoutVars>
      </dgm:prSet>
      <dgm:spPr/>
    </dgm:pt>
    <dgm:pt modelId="{5D9EFBE3-FDD5-4608-8C6B-716013C1804D}" type="pres">
      <dgm:prSet presAssocID="{61EA05C4-6034-4B86-BD1E-C4CC494B079A}" presName="sibTrans" presStyleLbl="sibTrans2D1" presStyleIdx="2" presStyleCnt="3"/>
      <dgm:spPr/>
    </dgm:pt>
    <dgm:pt modelId="{55C33DD5-554E-4F4E-867A-9A9B2FC584FB}" type="pres">
      <dgm:prSet presAssocID="{61EA05C4-6034-4B86-BD1E-C4CC494B079A}" presName="connectorText" presStyleLbl="sibTrans2D1" presStyleIdx="2" presStyleCnt="3"/>
      <dgm:spPr/>
    </dgm:pt>
    <dgm:pt modelId="{A38C0FC9-7F5A-40AC-A4F0-BFE9AAC2DE93}" type="pres">
      <dgm:prSet presAssocID="{959B9C75-E0F1-4E5B-AD12-17A27683892A}" presName="node" presStyleLbl="node1" presStyleIdx="3" presStyleCnt="4">
        <dgm:presLayoutVars>
          <dgm:bulletEnabled val="1"/>
        </dgm:presLayoutVars>
      </dgm:prSet>
      <dgm:spPr/>
    </dgm:pt>
  </dgm:ptLst>
  <dgm:cxnLst>
    <dgm:cxn modelId="{FE553004-547F-4F3E-AF21-588FDA27EC9E}" type="presOf" srcId="{61EA05C4-6034-4B86-BD1E-C4CC494B079A}" destId="{55C33DD5-554E-4F4E-867A-9A9B2FC584FB}" srcOrd="1" destOrd="0" presId="urn:microsoft.com/office/officeart/2005/8/layout/process2"/>
    <dgm:cxn modelId="{EB431C0C-18C5-428B-9B07-003354FC3B04}" type="presOf" srcId="{959B9C75-E0F1-4E5B-AD12-17A27683892A}" destId="{A38C0FC9-7F5A-40AC-A4F0-BFE9AAC2DE93}" srcOrd="0" destOrd="0" presId="urn:microsoft.com/office/officeart/2005/8/layout/process2"/>
    <dgm:cxn modelId="{C15D6024-5299-49F3-B675-E7AF9AFE994C}" type="presOf" srcId="{F81E2B5A-0B6E-4F12-A394-DE92844259E9}" destId="{0C4A3B55-5E4F-4D7C-A1A8-82D430465EE5}" srcOrd="0" destOrd="0" presId="urn:microsoft.com/office/officeart/2005/8/layout/process2"/>
    <dgm:cxn modelId="{91FDE52B-22BE-4B4C-825A-F842ABBA0A63}" type="presOf" srcId="{61EA05C4-6034-4B86-BD1E-C4CC494B079A}" destId="{5D9EFBE3-FDD5-4608-8C6B-716013C1804D}" srcOrd="0" destOrd="0" presId="urn:microsoft.com/office/officeart/2005/8/layout/process2"/>
    <dgm:cxn modelId="{B1EC5838-46E6-4135-851E-124D39290ECF}" type="presOf" srcId="{77F84EE6-923D-42BA-8FD8-9C9630F4D4B8}" destId="{C0985299-0DF2-4560-8DC2-72BF22C723C1}" srcOrd="1" destOrd="0" presId="urn:microsoft.com/office/officeart/2005/8/layout/process2"/>
    <dgm:cxn modelId="{4187A73F-F788-4A37-A3AF-5E5873A64171}" type="presOf" srcId="{BE626870-6F23-49BD-B8CA-70BF99BB1A15}" destId="{3E54AC16-6C7D-45D6-B64E-243C3489C240}" srcOrd="0" destOrd="0" presId="urn:microsoft.com/office/officeart/2005/8/layout/process2"/>
    <dgm:cxn modelId="{CF7B6665-ED53-4A64-868B-EC866730A3E4}" type="presOf" srcId="{77F84EE6-923D-42BA-8FD8-9C9630F4D4B8}" destId="{F9EAE772-95FF-499D-B765-F52D6D45CD41}" srcOrd="0" destOrd="0" presId="urn:microsoft.com/office/officeart/2005/8/layout/process2"/>
    <dgm:cxn modelId="{8EE98DA1-5D77-4E0E-832D-D308F507EA1B}" srcId="{B742BD62-8FEA-4C0D-9EC0-30871296D972}" destId="{26725504-F7B7-4E9B-9505-0C0C123C5594}" srcOrd="2" destOrd="0" parTransId="{B72ED184-119F-4CEE-A4C5-E8EF3A7B3700}" sibTransId="{61EA05C4-6034-4B86-BD1E-C4CC494B079A}"/>
    <dgm:cxn modelId="{5FEBEDA5-2FA7-40DF-A4BA-70CE9C18E708}" srcId="{B742BD62-8FEA-4C0D-9EC0-30871296D972}" destId="{959B9C75-E0F1-4E5B-AD12-17A27683892A}" srcOrd="3" destOrd="0" parTransId="{58458A61-2C2D-475A-BF42-24B533ED91C0}" sibTransId="{2782EB88-5E3F-4AB9-B22D-5F8B09215C7E}"/>
    <dgm:cxn modelId="{97627FB6-12BC-4C85-9123-3D72E63A8C9E}" type="presOf" srcId="{BE626870-6F23-49BD-B8CA-70BF99BB1A15}" destId="{F21ED978-1E4B-4D66-BC30-DAA28B6706CE}" srcOrd="1" destOrd="0" presId="urn:microsoft.com/office/officeart/2005/8/layout/process2"/>
    <dgm:cxn modelId="{8866D8BD-1FBC-437B-9BAA-6B452C196199}" type="presOf" srcId="{B742BD62-8FEA-4C0D-9EC0-30871296D972}" destId="{32AA4C13-AABA-4645-B70E-AFB24BA674EA}" srcOrd="0" destOrd="0" presId="urn:microsoft.com/office/officeart/2005/8/layout/process2"/>
    <dgm:cxn modelId="{1519B9C4-D15C-4EFF-B689-65503CBB7D93}" type="presOf" srcId="{0CC94210-F5C3-464E-B3FC-AA204BBE82FF}" destId="{7ADF881E-6056-4925-85FF-743DE8D3F470}" srcOrd="0" destOrd="0" presId="urn:microsoft.com/office/officeart/2005/8/layout/process2"/>
    <dgm:cxn modelId="{2E4B72E6-E862-4BF4-94C3-05E98CA965AA}" srcId="{B742BD62-8FEA-4C0D-9EC0-30871296D972}" destId="{F81E2B5A-0B6E-4F12-A394-DE92844259E9}" srcOrd="0" destOrd="0" parTransId="{D15CFC80-0567-4643-8079-CADC12E44D49}" sibTransId="{77F84EE6-923D-42BA-8FD8-9C9630F4D4B8}"/>
    <dgm:cxn modelId="{19DA99EC-CF12-4624-AE1F-412CB259A4C1}" type="presOf" srcId="{26725504-F7B7-4E9B-9505-0C0C123C5594}" destId="{01DCCEFE-7826-404B-8BC2-39310C3F0E84}" srcOrd="0" destOrd="0" presId="urn:microsoft.com/office/officeart/2005/8/layout/process2"/>
    <dgm:cxn modelId="{1F0558FB-9C0E-4C4C-A7E8-422F7FEA1C13}" srcId="{B742BD62-8FEA-4C0D-9EC0-30871296D972}" destId="{0CC94210-F5C3-464E-B3FC-AA204BBE82FF}" srcOrd="1" destOrd="0" parTransId="{FE8DDD8A-3B13-4E3F-9D2D-DFBDAF7DD329}" sibTransId="{BE626870-6F23-49BD-B8CA-70BF99BB1A15}"/>
    <dgm:cxn modelId="{95EA8CA1-24CB-474C-AFB2-7D6AD7A6294A}" type="presParOf" srcId="{32AA4C13-AABA-4645-B70E-AFB24BA674EA}" destId="{0C4A3B55-5E4F-4D7C-A1A8-82D430465EE5}" srcOrd="0" destOrd="0" presId="urn:microsoft.com/office/officeart/2005/8/layout/process2"/>
    <dgm:cxn modelId="{E472FE1C-38AE-4499-A1AB-9E0BEC4648E2}" type="presParOf" srcId="{32AA4C13-AABA-4645-B70E-AFB24BA674EA}" destId="{F9EAE772-95FF-499D-B765-F52D6D45CD41}" srcOrd="1" destOrd="0" presId="urn:microsoft.com/office/officeart/2005/8/layout/process2"/>
    <dgm:cxn modelId="{8BB970C4-63A2-4570-B46C-606D66D52659}" type="presParOf" srcId="{F9EAE772-95FF-499D-B765-F52D6D45CD41}" destId="{C0985299-0DF2-4560-8DC2-72BF22C723C1}" srcOrd="0" destOrd="0" presId="urn:microsoft.com/office/officeart/2005/8/layout/process2"/>
    <dgm:cxn modelId="{9D41FBFF-6DD4-44EE-A763-34589C84D334}" type="presParOf" srcId="{32AA4C13-AABA-4645-B70E-AFB24BA674EA}" destId="{7ADF881E-6056-4925-85FF-743DE8D3F470}" srcOrd="2" destOrd="0" presId="urn:microsoft.com/office/officeart/2005/8/layout/process2"/>
    <dgm:cxn modelId="{F089F595-53E1-43BF-8BCE-A75E6826E7F8}" type="presParOf" srcId="{32AA4C13-AABA-4645-B70E-AFB24BA674EA}" destId="{3E54AC16-6C7D-45D6-B64E-243C3489C240}" srcOrd="3" destOrd="0" presId="urn:microsoft.com/office/officeart/2005/8/layout/process2"/>
    <dgm:cxn modelId="{DE0DD98E-71E5-4813-8348-F447C5131A6A}" type="presParOf" srcId="{3E54AC16-6C7D-45D6-B64E-243C3489C240}" destId="{F21ED978-1E4B-4D66-BC30-DAA28B6706CE}" srcOrd="0" destOrd="0" presId="urn:microsoft.com/office/officeart/2005/8/layout/process2"/>
    <dgm:cxn modelId="{0A64E002-E921-4A98-A465-28ED2A6D3257}" type="presParOf" srcId="{32AA4C13-AABA-4645-B70E-AFB24BA674EA}" destId="{01DCCEFE-7826-404B-8BC2-39310C3F0E84}" srcOrd="4" destOrd="0" presId="urn:microsoft.com/office/officeart/2005/8/layout/process2"/>
    <dgm:cxn modelId="{2AB210A8-0341-4536-B449-DB9C50140E06}" type="presParOf" srcId="{32AA4C13-AABA-4645-B70E-AFB24BA674EA}" destId="{5D9EFBE3-FDD5-4608-8C6B-716013C1804D}" srcOrd="5" destOrd="0" presId="urn:microsoft.com/office/officeart/2005/8/layout/process2"/>
    <dgm:cxn modelId="{D1C2EAAC-7745-4855-94EB-5CD1115061CA}" type="presParOf" srcId="{5D9EFBE3-FDD5-4608-8C6B-716013C1804D}" destId="{55C33DD5-554E-4F4E-867A-9A9B2FC584FB}" srcOrd="0" destOrd="0" presId="urn:microsoft.com/office/officeart/2005/8/layout/process2"/>
    <dgm:cxn modelId="{8016194E-8974-4D8F-8AC3-E7A6C6BDF279}" type="presParOf" srcId="{32AA4C13-AABA-4645-B70E-AFB24BA674EA}" destId="{A38C0FC9-7F5A-40AC-A4F0-BFE9AAC2DE9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4A3B55-5E4F-4D7C-A1A8-82D430465EE5}">
      <dsp:nvSpPr>
        <dsp:cNvPr id="0" name=""/>
        <dsp:cNvSpPr/>
      </dsp:nvSpPr>
      <dsp:spPr>
        <a:xfrm>
          <a:off x="1243999" y="3836"/>
          <a:ext cx="2569238" cy="142735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User Request</a:t>
          </a:r>
        </a:p>
      </dsp:txBody>
      <dsp:txXfrm>
        <a:off x="1285805" y="45642"/>
        <a:ext cx="2485626" cy="1343742"/>
      </dsp:txXfrm>
    </dsp:sp>
    <dsp:sp modelId="{F9EAE772-95FF-499D-B765-F52D6D45CD41}">
      <dsp:nvSpPr>
        <dsp:cNvPr id="0" name=""/>
        <dsp:cNvSpPr/>
      </dsp:nvSpPr>
      <dsp:spPr>
        <a:xfrm rot="5400000">
          <a:off x="2260989" y="1466875"/>
          <a:ext cx="535258" cy="64230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900" kern="1200"/>
        </a:p>
      </dsp:txBody>
      <dsp:txXfrm rot="-5400000">
        <a:off x="2335926" y="1520401"/>
        <a:ext cx="385385" cy="374681"/>
      </dsp:txXfrm>
    </dsp:sp>
    <dsp:sp modelId="{7ADF881E-6056-4925-85FF-743DE8D3F470}">
      <dsp:nvSpPr>
        <dsp:cNvPr id="0" name=""/>
        <dsp:cNvSpPr/>
      </dsp:nvSpPr>
      <dsp:spPr>
        <a:xfrm>
          <a:off x="1243999" y="2144869"/>
          <a:ext cx="2569238" cy="142735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Invoice Processing</a:t>
          </a:r>
        </a:p>
      </dsp:txBody>
      <dsp:txXfrm>
        <a:off x="1285805" y="2186675"/>
        <a:ext cx="2485626" cy="1343742"/>
      </dsp:txXfrm>
    </dsp:sp>
    <dsp:sp modelId="{3E54AC16-6C7D-45D6-B64E-243C3489C240}">
      <dsp:nvSpPr>
        <dsp:cNvPr id="0" name=""/>
        <dsp:cNvSpPr/>
      </dsp:nvSpPr>
      <dsp:spPr>
        <a:xfrm rot="5400000">
          <a:off x="2260989" y="3607907"/>
          <a:ext cx="535258" cy="64230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900" kern="1200"/>
        </a:p>
      </dsp:txBody>
      <dsp:txXfrm rot="-5400000">
        <a:off x="2335926" y="3661433"/>
        <a:ext cx="385385" cy="374681"/>
      </dsp:txXfrm>
    </dsp:sp>
    <dsp:sp modelId="{01DCCEFE-7826-404B-8BC2-39310C3F0E84}">
      <dsp:nvSpPr>
        <dsp:cNvPr id="0" name=""/>
        <dsp:cNvSpPr/>
      </dsp:nvSpPr>
      <dsp:spPr>
        <a:xfrm>
          <a:off x="1243999" y="4285901"/>
          <a:ext cx="2569238" cy="142735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Event Emission</a:t>
          </a:r>
        </a:p>
      </dsp:txBody>
      <dsp:txXfrm>
        <a:off x="1285805" y="4327707"/>
        <a:ext cx="2485626" cy="1343742"/>
      </dsp:txXfrm>
    </dsp:sp>
    <dsp:sp modelId="{5D9EFBE3-FDD5-4608-8C6B-716013C1804D}">
      <dsp:nvSpPr>
        <dsp:cNvPr id="0" name=""/>
        <dsp:cNvSpPr/>
      </dsp:nvSpPr>
      <dsp:spPr>
        <a:xfrm rot="5400000">
          <a:off x="2260989" y="5748939"/>
          <a:ext cx="535258" cy="64230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900" kern="1200"/>
        </a:p>
      </dsp:txBody>
      <dsp:txXfrm rot="-5400000">
        <a:off x="2335926" y="5802465"/>
        <a:ext cx="385385" cy="374681"/>
      </dsp:txXfrm>
    </dsp:sp>
    <dsp:sp modelId="{A38C0FC9-7F5A-40AC-A4F0-BFE9AAC2DE93}">
      <dsp:nvSpPr>
        <dsp:cNvPr id="0" name=""/>
        <dsp:cNvSpPr/>
      </dsp:nvSpPr>
      <dsp:spPr>
        <a:xfrm>
          <a:off x="1243999" y="6426933"/>
          <a:ext cx="2569238" cy="142735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Notification/Email Handler</a:t>
          </a:r>
        </a:p>
      </dsp:txBody>
      <dsp:txXfrm>
        <a:off x="1285805" y="6468739"/>
        <a:ext cx="2485626" cy="13437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967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41EA3-E566-1A4A-C346-AF125FC9D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9D65B5-3990-69C5-7B3E-EF55B194AB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13B96F-8E11-1D4D-0CE7-39867D2E27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B4C094-91CB-9434-6F09-285ABFE0BE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3005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B2CDC-7C3B-85DC-FB54-5B56B820C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4E1229-DD5F-96E0-41BD-DCEE23A39C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638BCD-0A0B-5891-53D0-870CD69C7C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F9FC15-7EB0-C9ED-42D2-0346CEB97B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2715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27338-6BFC-B9CC-DCB9-C9D0D91BD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05071B-C212-6330-2BEC-0BD8029274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B40511-CC6A-A794-21F1-1BFAA310F0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11E7BB-532D-9EB8-C506-0BE82BE9CC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4520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379BC-66F5-8C3E-905C-C75BBAE71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906C80-1F79-2938-C59B-70BF0ED04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AAA54B-8097-EF76-AF95-0DFF137CE3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DF4464-4C59-5139-8F1B-4F9BF6DAD7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1242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91EC9-D6D9-EA32-A9CD-290F787EE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4C0368-3470-7345-241A-A6BC3141E4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05F9C2-AD11-94CE-A07A-1CDA2EE5E3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BBB2FF-F3E5-4E36-F362-3012CC5A93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1384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74765" y="96428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IN" sz="4400" b="1" dirty="0"/>
              <a:t>Event-Driven Smart Invoice &amp; Billing Platform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EF68FF-8761-3DE8-E5AA-B861DC65BFF9}"/>
              </a:ext>
            </a:extLst>
          </p:cNvPr>
          <p:cNvSpPr/>
          <p:nvPr/>
        </p:nvSpPr>
        <p:spPr>
          <a:xfrm>
            <a:off x="9971126" y="0"/>
            <a:ext cx="4659273" cy="822960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0E0477-EEF0-D6A0-3CB9-5967C8ABE285}"/>
              </a:ext>
            </a:extLst>
          </p:cNvPr>
          <p:cNvSpPr txBox="1"/>
          <p:nvPr/>
        </p:nvSpPr>
        <p:spPr>
          <a:xfrm>
            <a:off x="974765" y="2581275"/>
            <a:ext cx="634043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Mini Project – Mid-Semester Evaluation</a:t>
            </a:r>
            <a:br>
              <a:rPr lang="en-US" sz="2800" dirty="0"/>
            </a:br>
            <a:r>
              <a:rPr lang="en-US" sz="2800" dirty="0"/>
              <a:t>Department of Computer Science</a:t>
            </a:r>
            <a:br>
              <a:rPr lang="en-US" sz="2800" dirty="0"/>
            </a:br>
            <a:r>
              <a:rPr lang="en-US" sz="2800" dirty="0"/>
              <a:t>Academic Year 2025–26</a:t>
            </a:r>
            <a:endParaRPr lang="en-IN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2FD31B-FF0E-ED6F-5D4F-351BD857AAAD}"/>
              </a:ext>
            </a:extLst>
          </p:cNvPr>
          <p:cNvSpPr txBox="1"/>
          <p:nvPr/>
        </p:nvSpPr>
        <p:spPr>
          <a:xfrm>
            <a:off x="974765" y="4263331"/>
            <a:ext cx="4425910" cy="3234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/>
              <a:t>Prepared By</a:t>
            </a:r>
            <a:br>
              <a:rPr lang="en-IN" sz="2400" dirty="0"/>
            </a:br>
            <a:r>
              <a:rPr lang="en-IN" dirty="0"/>
              <a:t>Farhan Maniya (12302040701049)</a:t>
            </a:r>
            <a:br>
              <a:rPr lang="en-IN" dirty="0"/>
            </a:br>
            <a:r>
              <a:rPr lang="en-IN" dirty="0"/>
              <a:t>Eric Macwan (12302040701048)</a:t>
            </a:r>
            <a:br>
              <a:rPr lang="en-IN" dirty="0"/>
            </a:br>
            <a:r>
              <a:rPr lang="en-IN" dirty="0"/>
              <a:t>Lovedeep Singh Sandhu (12402040703012)</a:t>
            </a:r>
          </a:p>
          <a:p>
            <a:pPr>
              <a:lnSpc>
                <a:spcPct val="150000"/>
              </a:lnSpc>
            </a:pPr>
            <a:endParaRPr lang="en-IN" dirty="0"/>
          </a:p>
          <a:p>
            <a:pPr>
              <a:lnSpc>
                <a:spcPct val="150000"/>
              </a:lnSpc>
            </a:pPr>
            <a:r>
              <a:rPr lang="en-IN" sz="2400" dirty="0"/>
              <a:t>Guide</a:t>
            </a:r>
            <a:br>
              <a:rPr lang="en-IN" dirty="0"/>
            </a:br>
            <a:r>
              <a:rPr lang="en-IN" dirty="0"/>
              <a:t>Prof. Keyur Prajapati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C9D15F-7FEC-ECAD-375F-0C36527D25D8}"/>
              </a:ext>
            </a:extLst>
          </p:cNvPr>
          <p:cNvSpPr txBox="1"/>
          <p:nvPr/>
        </p:nvSpPr>
        <p:spPr>
          <a:xfrm>
            <a:off x="5186362" y="4146413"/>
            <a:ext cx="4171951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Tech Stack</a:t>
            </a:r>
            <a:r>
              <a:rPr lang="en-IN" dirty="0"/>
              <a:t>:</a:t>
            </a:r>
          </a:p>
          <a:p>
            <a:r>
              <a:rPr lang="en-IN" dirty="0"/>
              <a:t>Frontend</a:t>
            </a:r>
            <a:br>
              <a:rPr lang="en-IN" dirty="0"/>
            </a:br>
            <a:r>
              <a:rPr lang="en-IN" dirty="0"/>
              <a:t>• React</a:t>
            </a:r>
          </a:p>
          <a:p>
            <a:endParaRPr lang="en-IN" dirty="0"/>
          </a:p>
          <a:p>
            <a:r>
              <a:rPr lang="en-IN" dirty="0"/>
              <a:t>Backend</a:t>
            </a:r>
            <a:br>
              <a:rPr lang="en-IN" dirty="0"/>
            </a:br>
            <a:r>
              <a:rPr lang="en-IN" dirty="0"/>
              <a:t>• Node.js</a:t>
            </a:r>
            <a:br>
              <a:rPr lang="en-IN" dirty="0"/>
            </a:br>
            <a:r>
              <a:rPr lang="en-IN" dirty="0"/>
              <a:t>• Express.js</a:t>
            </a:r>
          </a:p>
          <a:p>
            <a:endParaRPr lang="en-IN" dirty="0"/>
          </a:p>
          <a:p>
            <a:r>
              <a:rPr lang="en-IN" dirty="0"/>
              <a:t>Database</a:t>
            </a:r>
            <a:br>
              <a:rPr lang="en-IN" dirty="0"/>
            </a:br>
            <a:r>
              <a:rPr lang="en-IN" dirty="0"/>
              <a:t>• MongoDB</a:t>
            </a:r>
          </a:p>
          <a:p>
            <a:endParaRPr lang="en-IN" dirty="0"/>
          </a:p>
          <a:p>
            <a:r>
              <a:rPr lang="en-IN" dirty="0"/>
              <a:t>Communication</a:t>
            </a:r>
            <a:br>
              <a:rPr lang="en-IN" dirty="0"/>
            </a:br>
            <a:r>
              <a:rPr lang="en-IN" dirty="0"/>
              <a:t>• </a:t>
            </a:r>
            <a:r>
              <a:rPr lang="en-IN" dirty="0" err="1"/>
              <a:t>Nodemailer</a:t>
            </a:r>
            <a:r>
              <a:rPr lang="en-IN" dirty="0"/>
              <a:t> (SMTP Email Integration)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966319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4400" b="1" dirty="0">
                <a:solidFill>
                  <a:srgbClr val="030303"/>
                </a:solidFill>
                <a:ea typeface="DM Sans Semi Bold" pitchFamily="34" charset="-122"/>
                <a:cs typeface="DM Sans Semi Bold" pitchFamily="34" charset="-120"/>
              </a:rPr>
              <a:t>Introduction</a:t>
            </a:r>
            <a:endParaRPr lang="en-US" sz="4400" b="1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778055F-B8E9-B611-5B16-703275456759}"/>
              </a:ext>
            </a:extLst>
          </p:cNvPr>
          <p:cNvCxnSpPr>
            <a:cxnSpLocks/>
          </p:cNvCxnSpPr>
          <p:nvPr/>
        </p:nvCxnSpPr>
        <p:spPr>
          <a:xfrm>
            <a:off x="66675" y="1715096"/>
            <a:ext cx="97917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0F4B9E7-3A83-DE70-38F0-F10A11CE705F}"/>
              </a:ext>
            </a:extLst>
          </p:cNvPr>
          <p:cNvSpPr txBox="1"/>
          <p:nvPr/>
        </p:nvSpPr>
        <p:spPr>
          <a:xfrm>
            <a:off x="793790" y="2200046"/>
            <a:ext cx="7073860" cy="4619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/>
              <a:t>Project Overview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Web-based invoice and billing management platform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Designed using modular full-stack architecture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Supports customer, product, and invoice lifecycle management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Implements event-driven backend for decoupled communication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Provides automated in-app notifications and email alerts</a:t>
            </a:r>
            <a:endParaRPr lang="en-IN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/>
          </a:p>
          <a:p>
            <a:pPr algn="just">
              <a:lnSpc>
                <a:spcPct val="150000"/>
              </a:lnSpc>
            </a:pPr>
            <a:r>
              <a:rPr lang="en-IN" sz="2400" dirty="0"/>
              <a:t>Objective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To design a scalable billing system with clean separation of concerns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To demonstrate event-driven architecture in a real-world application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A3B661-C710-854A-128D-30537AD022B8}"/>
              </a:ext>
            </a:extLst>
          </p:cNvPr>
          <p:cNvSpPr/>
          <p:nvPr/>
        </p:nvSpPr>
        <p:spPr>
          <a:xfrm>
            <a:off x="9791700" y="0"/>
            <a:ext cx="4838699" cy="822960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0F7BE0B3-EAEA-37AF-64CE-2D5568C57D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9923652"/>
              </p:ext>
            </p:extLst>
          </p:nvPr>
        </p:nvGraphicFramePr>
        <p:xfrm>
          <a:off x="9682430" y="209550"/>
          <a:ext cx="5057237" cy="7858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5720200-0ECF-8D25-522C-A6715D72C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245DC41-29D7-E5F6-7EA2-B26EE8490FBA}"/>
              </a:ext>
            </a:extLst>
          </p:cNvPr>
          <p:cNvSpPr/>
          <p:nvPr/>
        </p:nvSpPr>
        <p:spPr>
          <a:xfrm>
            <a:off x="9629774" y="2095500"/>
            <a:ext cx="4752976" cy="42195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2601B2-F3EF-8B83-7241-4F62FA24F371}"/>
              </a:ext>
            </a:extLst>
          </p:cNvPr>
          <p:cNvSpPr/>
          <p:nvPr/>
        </p:nvSpPr>
        <p:spPr>
          <a:xfrm>
            <a:off x="4924424" y="2095500"/>
            <a:ext cx="4705350" cy="42195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C51600-5AF9-1889-BF64-443E36489B4F}"/>
              </a:ext>
            </a:extLst>
          </p:cNvPr>
          <p:cNvSpPr/>
          <p:nvPr/>
        </p:nvSpPr>
        <p:spPr>
          <a:xfrm>
            <a:off x="228600" y="2095499"/>
            <a:ext cx="4705350" cy="42195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7296D800-2848-45AE-125C-5CE93E5FEB6C}"/>
              </a:ext>
            </a:extLst>
          </p:cNvPr>
          <p:cNvSpPr/>
          <p:nvPr/>
        </p:nvSpPr>
        <p:spPr>
          <a:xfrm>
            <a:off x="850940" y="866536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4400" b="1" dirty="0">
                <a:solidFill>
                  <a:srgbClr val="030303"/>
                </a:solidFill>
                <a:ea typeface="DM Sans Semi Bold" pitchFamily="34" charset="-122"/>
                <a:cs typeface="DM Sans Semi Bold" pitchFamily="34" charset="-120"/>
              </a:rPr>
              <a:t>Literature Review</a:t>
            </a:r>
            <a:endParaRPr lang="en-US" sz="4400" b="1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95873CB-FB4F-FF6B-B4C4-062F65125196}"/>
              </a:ext>
            </a:extLst>
          </p:cNvPr>
          <p:cNvCxnSpPr>
            <a:cxnSpLocks/>
          </p:cNvCxnSpPr>
          <p:nvPr/>
        </p:nvCxnSpPr>
        <p:spPr>
          <a:xfrm flipV="1">
            <a:off x="66675" y="1619250"/>
            <a:ext cx="14563725" cy="958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A382966-5B2F-53B6-D5EA-767956EA1823}"/>
              </a:ext>
            </a:extLst>
          </p:cNvPr>
          <p:cNvSpPr txBox="1"/>
          <p:nvPr/>
        </p:nvSpPr>
        <p:spPr>
          <a:xfrm>
            <a:off x="228600" y="2095500"/>
            <a:ext cx="4638675" cy="392735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/>
              <a:t>⚙️ </a:t>
            </a:r>
            <a:r>
              <a:rPr lang="en-US" sz="2400" b="1" dirty="0"/>
              <a:t>Existing Systems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• Traditional billing software tightly couples invoice logic with communication mechanisms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• ERP modules provide billing features but are complex and heavy for small-scale use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• Limited modularity in academic-level billing implementations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• Difficult to extend with new notification channels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8F81BB-6C8A-A666-247D-8494513B28B4}"/>
              </a:ext>
            </a:extLst>
          </p:cNvPr>
          <p:cNvSpPr txBox="1"/>
          <p:nvPr/>
        </p:nvSpPr>
        <p:spPr>
          <a:xfrm>
            <a:off x="5029199" y="2095500"/>
            <a:ext cx="4638675" cy="30963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/>
              <a:t>🔍 </a:t>
            </a:r>
            <a:r>
              <a:rPr lang="en-US" sz="2400" b="1" dirty="0"/>
              <a:t>Identified Research Gap</a:t>
            </a: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/>
              <a:t>• Lack of structured event-based communication models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• Limited focus on separation of concerns in billing systems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• Poor scalability in tightly integrated architectures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E4FF89-F772-15ED-D40C-80F459708611}"/>
              </a:ext>
            </a:extLst>
          </p:cNvPr>
          <p:cNvSpPr txBox="1"/>
          <p:nvPr/>
        </p:nvSpPr>
        <p:spPr>
          <a:xfrm>
            <a:off x="9839325" y="2095500"/>
            <a:ext cx="4638675" cy="268086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/>
              <a:t>🚀 </a:t>
            </a:r>
            <a:r>
              <a:rPr lang="en-US" sz="2400" b="1" dirty="0"/>
              <a:t>Proposed Approach</a:t>
            </a: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/>
              <a:t>• Modular backend architecture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•Event-driven  communication between services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• Decoupled notification and email handlers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• Improved maintainability and extensibility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0329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8B57B-D85A-8A4D-D330-E74FFAE1F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CB81B2DB-6B4A-B906-0C5B-B18D6A1CB699}"/>
              </a:ext>
            </a:extLst>
          </p:cNvPr>
          <p:cNvSpPr/>
          <p:nvPr/>
        </p:nvSpPr>
        <p:spPr>
          <a:xfrm>
            <a:off x="793790" y="976551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4400" b="1" dirty="0">
                <a:solidFill>
                  <a:srgbClr val="030303"/>
                </a:solidFill>
                <a:ea typeface="DM Sans Semi Bold" pitchFamily="34" charset="-122"/>
                <a:cs typeface="DM Sans Semi Bold" pitchFamily="34" charset="-120"/>
              </a:rPr>
              <a:t>Problem Statement</a:t>
            </a:r>
            <a:endParaRPr lang="en-US" sz="4400" b="1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F50255B-EE41-DDC7-F2DB-93BC8BA61A64}"/>
              </a:ext>
            </a:extLst>
          </p:cNvPr>
          <p:cNvCxnSpPr>
            <a:cxnSpLocks/>
          </p:cNvCxnSpPr>
          <p:nvPr/>
        </p:nvCxnSpPr>
        <p:spPr>
          <a:xfrm flipV="1">
            <a:off x="-9525" y="1619250"/>
            <a:ext cx="14563725" cy="958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9B0D869-4AE6-7373-C491-EE6A3E78B3E8}"/>
              </a:ext>
            </a:extLst>
          </p:cNvPr>
          <p:cNvSpPr txBox="1"/>
          <p:nvPr/>
        </p:nvSpPr>
        <p:spPr>
          <a:xfrm>
            <a:off x="793790" y="2066925"/>
            <a:ext cx="6521410" cy="4619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• Modern billing systems often tightly integrate invoice processing with communication logic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• Direct email handling inside business modules reduces flexibility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• Lack of separation of concerns makes systems difficult to maintain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• Extending additional communication channels (SMS, Push, etc.) becomes complex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• Scalability issues arise in tightly coupled architectures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A72E74-DC14-A5C5-A8DE-751A84FB48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991" y="0"/>
            <a:ext cx="6521409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226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">
            <a:extLst>
              <a:ext uri="{FF2B5EF4-FFF2-40B4-BE49-F238E27FC236}">
                <a16:creationId xmlns:a16="http://schemas.microsoft.com/office/drawing/2014/main" id="{B4BB2591-E81D-3B88-4120-62665A8056AF}"/>
              </a:ext>
            </a:extLst>
          </p:cNvPr>
          <p:cNvSpPr/>
          <p:nvPr/>
        </p:nvSpPr>
        <p:spPr>
          <a:xfrm>
            <a:off x="184666" y="877550"/>
            <a:ext cx="4596883" cy="1045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4400" dirty="0">
                <a:solidFill>
                  <a:srgbClr val="030303"/>
                </a:solidFill>
                <a:ea typeface="DM Sans Semi Bold" pitchFamily="34" charset="-122"/>
                <a:cs typeface="DM Sans Semi Bold" pitchFamily="34" charset="-120"/>
              </a:rPr>
              <a:t>Hardware &amp; Software Requirements</a:t>
            </a:r>
            <a:endParaRPr lang="en-US" sz="44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8B8EE2B-16C0-6F21-1219-B2860EBDD61A}"/>
              </a:ext>
            </a:extLst>
          </p:cNvPr>
          <p:cNvCxnSpPr>
            <a:cxnSpLocks/>
          </p:cNvCxnSpPr>
          <p:nvPr/>
        </p:nvCxnSpPr>
        <p:spPr>
          <a:xfrm flipV="1">
            <a:off x="-9525" y="1619250"/>
            <a:ext cx="14563725" cy="958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10BF37C-6372-CEE4-7AF9-726040B719F2}"/>
              </a:ext>
            </a:extLst>
          </p:cNvPr>
          <p:cNvSpPr txBox="1"/>
          <p:nvPr/>
        </p:nvSpPr>
        <p:spPr>
          <a:xfrm>
            <a:off x="1095375" y="2333625"/>
            <a:ext cx="5467350" cy="281936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	Hardware Requirements</a:t>
            </a:r>
          </a:p>
          <a:p>
            <a:pPr>
              <a:lnSpc>
                <a:spcPct val="150000"/>
              </a:lnSpc>
            </a:pPr>
            <a:endParaRPr lang="en-US" sz="2400" b="1" dirty="0"/>
          </a:p>
          <a:p>
            <a:pPr>
              <a:lnSpc>
                <a:spcPct val="150000"/>
              </a:lnSpc>
            </a:pPr>
            <a:r>
              <a:rPr lang="en-US" dirty="0"/>
              <a:t>• Processor: Intel i5 or equivalent</a:t>
            </a:r>
            <a:br>
              <a:rPr lang="en-US" dirty="0"/>
            </a:br>
            <a:r>
              <a:rPr lang="en-US" dirty="0"/>
              <a:t>• RAM: Minimum 8 GB</a:t>
            </a:r>
            <a:br>
              <a:rPr lang="en-US" dirty="0"/>
            </a:br>
            <a:r>
              <a:rPr lang="en-US" dirty="0"/>
              <a:t>• Storage: 256 GB SSD</a:t>
            </a:r>
            <a:br>
              <a:rPr lang="en-US" dirty="0"/>
            </a:br>
            <a:r>
              <a:rPr lang="en-US" dirty="0"/>
              <a:t>• Internet Connectivity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425005-0DF2-E881-FB55-8B175139D433}"/>
              </a:ext>
            </a:extLst>
          </p:cNvPr>
          <p:cNvSpPr txBox="1"/>
          <p:nvPr/>
        </p:nvSpPr>
        <p:spPr>
          <a:xfrm>
            <a:off x="6562725" y="2333625"/>
            <a:ext cx="5467350" cy="337335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	Software Requirements</a:t>
            </a:r>
          </a:p>
          <a:p>
            <a:pPr>
              <a:lnSpc>
                <a:spcPct val="150000"/>
              </a:lnSpc>
            </a:pPr>
            <a:endParaRPr lang="en-IN" b="1" dirty="0"/>
          </a:p>
          <a:p>
            <a:pPr>
              <a:lnSpc>
                <a:spcPct val="150000"/>
              </a:lnSpc>
            </a:pPr>
            <a:r>
              <a:rPr lang="en-IN" dirty="0"/>
              <a:t>• Node.js</a:t>
            </a:r>
            <a:br>
              <a:rPr lang="en-IN" dirty="0"/>
            </a:br>
            <a:r>
              <a:rPr lang="en-IN" dirty="0"/>
              <a:t>• Express.js</a:t>
            </a:r>
            <a:br>
              <a:rPr lang="en-IN" dirty="0"/>
            </a:br>
            <a:r>
              <a:rPr lang="en-IN" dirty="0"/>
              <a:t>• MongoDB</a:t>
            </a:r>
            <a:br>
              <a:rPr lang="en-IN" dirty="0"/>
            </a:br>
            <a:r>
              <a:rPr lang="en-IN" dirty="0"/>
              <a:t>• React</a:t>
            </a:r>
            <a:br>
              <a:rPr lang="en-IN" dirty="0"/>
            </a:br>
            <a:r>
              <a:rPr lang="en-IN" dirty="0"/>
              <a:t>• </a:t>
            </a:r>
            <a:r>
              <a:rPr lang="en-IN" dirty="0" err="1"/>
              <a:t>Nodemailer</a:t>
            </a:r>
            <a:r>
              <a:rPr lang="en-IN" dirty="0"/>
              <a:t> (SMTP Email Service)</a:t>
            </a:r>
            <a:br>
              <a:rPr lang="en-IN" dirty="0"/>
            </a:br>
            <a:r>
              <a:rPr lang="en-IN" dirty="0"/>
              <a:t>• Visual Studio Code</a:t>
            </a:r>
          </a:p>
        </p:txBody>
      </p:sp>
      <p:pic>
        <p:nvPicPr>
          <p:cNvPr id="22" name="Graphic 21" descr="Processor with solid fill">
            <a:extLst>
              <a:ext uri="{FF2B5EF4-FFF2-40B4-BE49-F238E27FC236}">
                <a16:creationId xmlns:a16="http://schemas.microsoft.com/office/drawing/2014/main" id="{80AB6F82-BAFD-4848-2492-EF39A84212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85875" y="2456796"/>
            <a:ext cx="647700" cy="647700"/>
          </a:xfrm>
          <a:prstGeom prst="rect">
            <a:avLst/>
          </a:prstGeom>
        </p:spPr>
      </p:pic>
      <p:pic>
        <p:nvPicPr>
          <p:cNvPr id="24" name="Graphic 23" descr="Cmd Terminal outline">
            <a:extLst>
              <a:ext uri="{FF2B5EF4-FFF2-40B4-BE49-F238E27FC236}">
                <a16:creationId xmlns:a16="http://schemas.microsoft.com/office/drawing/2014/main" id="{8D383455-5086-2499-828A-8B62269148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62725" y="2323446"/>
            <a:ext cx="648000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9013" y="533519"/>
            <a:ext cx="3880247" cy="484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4400" dirty="0">
                <a:solidFill>
                  <a:srgbClr val="030303"/>
                </a:solidFill>
                <a:ea typeface="DM Sans Semi Bold" pitchFamily="34" charset="-122"/>
                <a:cs typeface="DM Sans Semi Bold" pitchFamily="34" charset="-120"/>
              </a:rPr>
              <a:t>System Architecture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1619377" y="5950056"/>
            <a:ext cx="2986239" cy="373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Database</a:t>
            </a:r>
            <a:endParaRPr lang="en-US" sz="2350" dirty="0"/>
          </a:p>
        </p:txBody>
      </p:sp>
      <p:sp>
        <p:nvSpPr>
          <p:cNvPr id="6" name="Text 3"/>
          <p:cNvSpPr/>
          <p:nvPr/>
        </p:nvSpPr>
        <p:spPr>
          <a:xfrm>
            <a:off x="1619377" y="3335438"/>
            <a:ext cx="2986239" cy="373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Application</a:t>
            </a:r>
            <a:endParaRPr lang="en-US" sz="2350" dirty="0"/>
          </a:p>
        </p:txBody>
      </p:sp>
      <p:sp>
        <p:nvSpPr>
          <p:cNvPr id="7" name="Text 4"/>
          <p:cNvSpPr/>
          <p:nvPr/>
        </p:nvSpPr>
        <p:spPr>
          <a:xfrm>
            <a:off x="1619377" y="2021492"/>
            <a:ext cx="2986239" cy="373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User</a:t>
            </a:r>
            <a:endParaRPr lang="en-US" sz="235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625630-E671-78F3-83AF-84B6E1193B72}"/>
              </a:ext>
            </a:extLst>
          </p:cNvPr>
          <p:cNvCxnSpPr>
            <a:cxnSpLocks/>
          </p:cNvCxnSpPr>
          <p:nvPr/>
        </p:nvCxnSpPr>
        <p:spPr>
          <a:xfrm flipV="1">
            <a:off x="-9525" y="1619250"/>
            <a:ext cx="14563725" cy="958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1E5403CA-321C-BF6C-03A8-B5C33DDC2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715096"/>
            <a:ext cx="13703808" cy="64291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D5DB1C0-9893-6F15-0A71-28212E212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3583E01-90CC-FA19-0713-2AD058D6E083}"/>
              </a:ext>
            </a:extLst>
          </p:cNvPr>
          <p:cNvSpPr/>
          <p:nvPr/>
        </p:nvSpPr>
        <p:spPr>
          <a:xfrm>
            <a:off x="679013" y="533519"/>
            <a:ext cx="3880247" cy="484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800"/>
              </a:lnSpc>
            </a:pPr>
            <a:r>
              <a:rPr lang="en-IN" sz="4400" dirty="0"/>
              <a:t>UML Use Case Diagram</a:t>
            </a:r>
            <a:endParaRPr lang="en-US" sz="44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95EBCB4-839B-8839-7DE6-8BC185F2F92B}"/>
              </a:ext>
            </a:extLst>
          </p:cNvPr>
          <p:cNvSpPr/>
          <p:nvPr/>
        </p:nvSpPr>
        <p:spPr>
          <a:xfrm>
            <a:off x="1619377" y="5950056"/>
            <a:ext cx="2986239" cy="373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Database</a:t>
            </a:r>
            <a:endParaRPr lang="en-US" sz="23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F4995FC-85A0-C964-2763-37FA196E02F1}"/>
              </a:ext>
            </a:extLst>
          </p:cNvPr>
          <p:cNvSpPr/>
          <p:nvPr/>
        </p:nvSpPr>
        <p:spPr>
          <a:xfrm>
            <a:off x="1619377" y="3335438"/>
            <a:ext cx="2986239" cy="373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Application</a:t>
            </a:r>
            <a:endParaRPr lang="en-US" sz="235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CA54EB-7A28-FB16-F68D-EC728FB81A2A}"/>
              </a:ext>
            </a:extLst>
          </p:cNvPr>
          <p:cNvCxnSpPr>
            <a:cxnSpLocks/>
          </p:cNvCxnSpPr>
          <p:nvPr/>
        </p:nvCxnSpPr>
        <p:spPr>
          <a:xfrm flipV="1">
            <a:off x="-9525" y="1619250"/>
            <a:ext cx="14563725" cy="958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99EDFB4D-504E-F8C1-6542-DC58878F1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1175" y="1906264"/>
            <a:ext cx="11544300" cy="5866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892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E3E9F20-1339-2805-CCB2-68BC0C850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DA3E43-B2C7-D9D4-83BB-C5A93C7CB2E0}"/>
              </a:ext>
            </a:extLst>
          </p:cNvPr>
          <p:cNvSpPr/>
          <p:nvPr/>
        </p:nvSpPr>
        <p:spPr>
          <a:xfrm>
            <a:off x="679013" y="533519"/>
            <a:ext cx="3880247" cy="484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4400" b="1" dirty="0"/>
              <a:t>UML Sequence Diagram – Invoice Creation Flow</a:t>
            </a:r>
            <a:endParaRPr lang="en-US" sz="44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17FA4057-3D10-BEC8-0951-18E1378A82D2}"/>
              </a:ext>
            </a:extLst>
          </p:cNvPr>
          <p:cNvSpPr/>
          <p:nvPr/>
        </p:nvSpPr>
        <p:spPr>
          <a:xfrm>
            <a:off x="1619377" y="5950056"/>
            <a:ext cx="2986239" cy="373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Database</a:t>
            </a:r>
            <a:endParaRPr lang="en-US" sz="23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6EE3E18-443B-FA57-C940-52D3B42D1643}"/>
              </a:ext>
            </a:extLst>
          </p:cNvPr>
          <p:cNvSpPr/>
          <p:nvPr/>
        </p:nvSpPr>
        <p:spPr>
          <a:xfrm>
            <a:off x="1619377" y="3335438"/>
            <a:ext cx="2986239" cy="373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Application</a:t>
            </a:r>
            <a:endParaRPr lang="en-US" sz="235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CB6A029-203B-C5BB-BE81-9F7B1DA4D6DA}"/>
              </a:ext>
            </a:extLst>
          </p:cNvPr>
          <p:cNvCxnSpPr>
            <a:cxnSpLocks/>
          </p:cNvCxnSpPr>
          <p:nvPr/>
        </p:nvCxnSpPr>
        <p:spPr>
          <a:xfrm flipV="1">
            <a:off x="-9525" y="1619250"/>
            <a:ext cx="14563725" cy="958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52329E31-0CBD-56CA-3079-D1F25A967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949" y="1781771"/>
            <a:ext cx="11534775" cy="6291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779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D149D40-9E4B-8564-6002-284028D52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2D82075-D11E-C080-CAEC-28E7E5C9ED3F}"/>
              </a:ext>
            </a:extLst>
          </p:cNvPr>
          <p:cNvSpPr/>
          <p:nvPr/>
        </p:nvSpPr>
        <p:spPr>
          <a:xfrm>
            <a:off x="679013" y="533519"/>
            <a:ext cx="3880247" cy="484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4400" b="1" dirty="0"/>
              <a:t>Project Timeline (6 Weeks Development Plan)</a:t>
            </a:r>
            <a:endParaRPr lang="en-US" sz="44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959FA27-6E0D-4EDA-64C7-9850984D2436}"/>
              </a:ext>
            </a:extLst>
          </p:cNvPr>
          <p:cNvSpPr/>
          <p:nvPr/>
        </p:nvSpPr>
        <p:spPr>
          <a:xfrm>
            <a:off x="1619377" y="5950056"/>
            <a:ext cx="2986239" cy="373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Database</a:t>
            </a:r>
            <a:endParaRPr lang="en-US" sz="23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98DD2C3-A059-6B50-B005-A59880245B55}"/>
              </a:ext>
            </a:extLst>
          </p:cNvPr>
          <p:cNvSpPr/>
          <p:nvPr/>
        </p:nvSpPr>
        <p:spPr>
          <a:xfrm>
            <a:off x="1619377" y="3335438"/>
            <a:ext cx="2986239" cy="373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Application</a:t>
            </a:r>
            <a:endParaRPr lang="en-US" sz="235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2A87E9C-419A-04F9-B1B0-B694E5716DA3}"/>
              </a:ext>
            </a:extLst>
          </p:cNvPr>
          <p:cNvCxnSpPr>
            <a:cxnSpLocks/>
          </p:cNvCxnSpPr>
          <p:nvPr/>
        </p:nvCxnSpPr>
        <p:spPr>
          <a:xfrm flipV="1">
            <a:off x="-9525" y="1619250"/>
            <a:ext cx="14563725" cy="958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E531AA97-2404-B347-1FE6-8669B902D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185" y="1778757"/>
            <a:ext cx="11150278" cy="608197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4859BB5-258B-9DFE-C855-22DB6F2287D1}"/>
              </a:ext>
            </a:extLst>
          </p:cNvPr>
          <p:cNvSpPr/>
          <p:nvPr/>
        </p:nvSpPr>
        <p:spPr>
          <a:xfrm>
            <a:off x="1400537" y="1715096"/>
            <a:ext cx="10451939" cy="5007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6343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56592"/>
            <a:ext cx="10161865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4400" dirty="0">
                <a:solidFill>
                  <a:srgbClr val="030303"/>
                </a:solidFill>
                <a:ea typeface="DM Sans Semi Bold" pitchFamily="34" charset="-122"/>
                <a:cs typeface="DM Sans Semi Bold" pitchFamily="34" charset="-120"/>
              </a:rPr>
              <a:t>Implementation — Screenshots (placeholders)</a:t>
            </a:r>
            <a:endParaRPr lang="en-US" sz="4400" dirty="0"/>
          </a:p>
        </p:txBody>
      </p:sp>
      <p:sp>
        <p:nvSpPr>
          <p:cNvPr id="13" name="Text 7"/>
          <p:cNvSpPr/>
          <p:nvPr/>
        </p:nvSpPr>
        <p:spPr>
          <a:xfrm>
            <a:off x="74414" y="6969975"/>
            <a:ext cx="425946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rgbClr val="464646"/>
                </a:solidFill>
                <a:ea typeface="DM Sans Semi Bold" pitchFamily="34" charset="-122"/>
                <a:cs typeface="DM Sans Semi Bold" pitchFamily="34" charset="-120"/>
              </a:rPr>
              <a:t>Billing &amp; Invoice Screen</a:t>
            </a:r>
            <a:endParaRPr lang="en-US" sz="2400" dirty="0"/>
          </a:p>
        </p:txBody>
      </p:sp>
      <p:sp>
        <p:nvSpPr>
          <p:cNvPr id="14" name="Text 8"/>
          <p:cNvSpPr/>
          <p:nvPr/>
        </p:nvSpPr>
        <p:spPr>
          <a:xfrm>
            <a:off x="574364" y="7364604"/>
            <a:ext cx="579542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464646"/>
                </a:solidFill>
                <a:ea typeface="Inter Medium" pitchFamily="34" charset="-122"/>
                <a:cs typeface="Inter Medium" pitchFamily="34" charset="-120"/>
              </a:rPr>
              <a:t>Line items, tax/discount calculations, PDF export</a:t>
            </a:r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DCE67AD-7C72-781D-B7F1-F7FCEB1FC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59625"/>
            <a:ext cx="6944156" cy="550603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0456866-2B73-2321-B1F7-7CB4EFF41C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2403" y="923568"/>
            <a:ext cx="4366800" cy="3220471"/>
          </a:xfrm>
          <a:prstGeom prst="rect">
            <a:avLst/>
          </a:prstGeom>
        </p:spPr>
      </p:pic>
      <p:sp>
        <p:nvSpPr>
          <p:cNvPr id="25" name="Text 7">
            <a:extLst>
              <a:ext uri="{FF2B5EF4-FFF2-40B4-BE49-F238E27FC236}">
                <a16:creationId xmlns:a16="http://schemas.microsoft.com/office/drawing/2014/main" id="{B54D67C3-4334-1F5D-14EE-F7305CA72328}"/>
              </a:ext>
            </a:extLst>
          </p:cNvPr>
          <p:cNvSpPr/>
          <p:nvPr/>
        </p:nvSpPr>
        <p:spPr>
          <a:xfrm>
            <a:off x="7884915" y="4317207"/>
            <a:ext cx="4385190" cy="80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rgbClr val="464646"/>
                </a:solidFill>
                <a:ea typeface="DM Sans Semi Bold" pitchFamily="34" charset="-122"/>
                <a:cs typeface="DM Sans Semi Bold" pitchFamily="34" charset="-120"/>
              </a:rPr>
              <a:t>Create Invoice Screen</a:t>
            </a:r>
            <a:endParaRPr lang="en-US" sz="24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F72DCDD-4CB0-E378-9716-83DDA9B791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1780" y="4720828"/>
            <a:ext cx="3675600" cy="31156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9015" y="564237"/>
            <a:ext cx="5693926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Future Work &amp; Conclusion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1847850"/>
            <a:ext cx="8284131" cy="4126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b="1" dirty="0"/>
              <a:t>Future Work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Integration with secure payment gateways (Stripe / </a:t>
            </a:r>
            <a:r>
              <a:rPr lang="en-US" dirty="0" err="1"/>
              <a:t>Razorpay</a:t>
            </a:r>
            <a:r>
              <a:rPr lang="en-US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Role-Based Access Control (Admin, Accountant, Viewer)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Recurring invoices &amp; automated billing scheduler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Migration to microservices architecture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Cloud deployment with CI/CD pipeline</a:t>
            </a:r>
          </a:p>
          <a:p>
            <a:pPr>
              <a:lnSpc>
                <a:spcPct val="150000"/>
              </a:lnSpc>
            </a:pPr>
            <a:r>
              <a:rPr lang="en-US" b="1" dirty="0"/>
              <a:t>Conclusion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Successfully implemented a modular full-stack billing platform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Demonstrated event-driven architecture in a real-world scenario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Achieved separation of concerns for scalability &amp; maintainability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System reduces manual billing errors and improves traceability</a:t>
            </a: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8943" y="1311354"/>
            <a:ext cx="4205168" cy="560689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21757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4400" dirty="0">
                <a:solidFill>
                  <a:srgbClr val="030303"/>
                </a:solidFill>
                <a:ea typeface="DM Sans Semi Bold" pitchFamily="34" charset="-122"/>
                <a:cs typeface="DM Sans Semi Bold" pitchFamily="34" charset="-120"/>
              </a:rPr>
              <a:t>References</a:t>
            </a:r>
            <a:endParaRPr lang="en-US" sz="4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9EB14D-89B4-9FB0-98F7-B17819C5ECAC}"/>
              </a:ext>
            </a:extLst>
          </p:cNvPr>
          <p:cNvSpPr txBox="1"/>
          <p:nvPr/>
        </p:nvSpPr>
        <p:spPr>
          <a:xfrm>
            <a:off x="895350" y="1762125"/>
            <a:ext cx="996315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React Documentation. (2024). React – A JavaScript library for building user interfaces. Retrieved from https://react.dev/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Node.js Documentation. (2024). Node.js Official Documentation. Retrieved from https://nodejs.org/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Express.js Documentation. (2024). Express – Fast, unopinionated, minimalist web framework for Node.js. Retrieved from https://expressjs.com/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Nodemailer</a:t>
            </a:r>
            <a:r>
              <a:rPr lang="en-IN" dirty="0"/>
              <a:t> Documentation. (2024). </a:t>
            </a:r>
            <a:r>
              <a:rPr lang="en-IN" dirty="0" err="1"/>
              <a:t>Nodemailer</a:t>
            </a:r>
            <a:r>
              <a:rPr lang="en-IN" dirty="0"/>
              <a:t> – Send emails from Node.js. Retrieved from https://nodemailer.com/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Gamma / Gemini AI Tools (2025). Used for UML diagram and architecture visualization assistance.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1013</TotalTime>
  <Words>615</Words>
  <Application>Microsoft Office PowerPoint</Application>
  <PresentationFormat>Custom</PresentationFormat>
  <Paragraphs>111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Inter Medium</vt:lpstr>
      <vt:lpstr>Times New Roman</vt:lpstr>
      <vt:lpstr>Arial</vt:lpstr>
      <vt:lpstr>DM Sans Semi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Farhan Mania</cp:lastModifiedBy>
  <cp:revision>3</cp:revision>
  <dcterms:created xsi:type="dcterms:W3CDTF">2026-02-19T08:40:19Z</dcterms:created>
  <dcterms:modified xsi:type="dcterms:W3CDTF">2026-02-20T04:43:54Z</dcterms:modified>
</cp:coreProperties>
</file>